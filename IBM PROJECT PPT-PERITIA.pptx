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90" r:id="rId2"/>
    <p:sldId id="291" r:id="rId3"/>
    <p:sldId id="312" r:id="rId4"/>
    <p:sldId id="327" r:id="rId5"/>
    <p:sldId id="313" r:id="rId6"/>
    <p:sldId id="314" r:id="rId7"/>
    <p:sldId id="318" r:id="rId8"/>
    <p:sldId id="317" r:id="rId9"/>
    <p:sldId id="316" r:id="rId10"/>
    <p:sldId id="315" r:id="rId11"/>
    <p:sldId id="298" r:id="rId12"/>
    <p:sldId id="299" r:id="rId13"/>
    <p:sldId id="300" r:id="rId14"/>
    <p:sldId id="301" r:id="rId15"/>
    <p:sldId id="302" r:id="rId16"/>
    <p:sldId id="303" r:id="rId17"/>
    <p:sldId id="319" r:id="rId18"/>
    <p:sldId id="320" r:id="rId19"/>
    <p:sldId id="321" r:id="rId20"/>
    <p:sldId id="322" r:id="rId21"/>
    <p:sldId id="323" r:id="rId22"/>
    <p:sldId id="324" r:id="rId23"/>
    <p:sldId id="304" r:id="rId24"/>
    <p:sldId id="325" r:id="rId25"/>
    <p:sldId id="306" r:id="rId26"/>
    <p:sldId id="307" r:id="rId27"/>
    <p:sldId id="310" r:id="rId28"/>
    <p:sldId id="311" r:id="rId29"/>
    <p:sldId id="308" r:id="rId30"/>
    <p:sldId id="309"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685A451-8C28-29D3-FB18-FA2538AAA4F2}"/>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3BB0D09-D91F-BF04-ADAB-77A79C912A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6D1293D5-07E7-F5A5-8BD1-9C9FE76775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2688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2C5276B-46D2-9357-8D37-8EF32A3C8E7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69F4C5E-0F1F-6475-3C0D-B3C8C81C1A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2BBFEBC-F64C-A7F6-CEDE-F1A76A8D8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208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18FFFF2-3665-369B-90E3-1DA1C211A22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F651E22-2E3F-2EB8-3E46-F7C489ADB5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65E82EFA-6F2F-D242-466E-90379501E0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2541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BACBB083-54C6-F7CC-8E9D-875639CA8F7B}"/>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74B76CDC-0B47-5B0C-CDC3-4419FC5E2E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B32CBCE3-2F34-C2DB-EE07-B8DEBC73D9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2415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050A289-4369-3A99-1BFF-2E36D306EB69}"/>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49591974-6726-DCC1-1316-7C3CC80FF2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A30052A8-698A-2E98-F7DF-7DC6DB442A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193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A53AF2F-BCF8-3BDF-521F-02F2CD56662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403CC771-D821-1E90-3779-BC8C88CC62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DCF46280-0A2E-D06E-9056-5DE46A4446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3566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0E690EC-64F8-FDDD-4998-13F94B08D9A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E534B81-0C8E-0082-4F35-B145F0BC79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30B81C8B-9211-7D6E-7517-3A3C029FF4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6780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8B61880-6DA2-972F-A75D-D63370A207CF}"/>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5CBC0CE2-4610-EA37-B531-D7A59BBBEC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AD7B8AB3-CC50-D768-562B-8AC211A7D2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077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F20FC9B-3952-F3CD-4872-B27A5ABD3EB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0D815BF-A09E-9B17-4A1F-F69D6B80C9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A7F0848-93F7-05B9-376F-0B0904DCC2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612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5D7D806-A12A-981F-4DD5-4FA6CBE43D7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369C573E-3F6E-F74F-76D1-1F6F188577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673F1A8-5AC2-3B7C-2228-5A09B7D8D5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9808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479614D-A504-ED8C-B0E9-A0A95726516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DC405EC-7FAB-53FF-B416-B57B067219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B92AF58-036A-92BC-802A-A2AC30012D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05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ABB2C51-BC74-4106-C0EB-5F90A40BB63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AB88366-F970-8779-105C-7C15F687A7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2FA71AD-F007-1B7C-9B1E-86EB393165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4884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21C039C-0065-30EB-875B-3B94B82DF56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AAF7305-5A2B-0421-5E12-06411EED16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DC2F1B1-3CC7-748B-E671-3366BEB2E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598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56EDA6A-4064-1709-6D7A-1CECF9C2A9D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4E6CAA0-1A91-655F-042C-269B13CC82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19D1235-E475-2BBE-7F0C-664F14578B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908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6D53591-CB12-CB71-C8C3-A5D3816941A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F2AD7B8-FC40-CB02-66F8-DDF9E9BDFD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EA7F3726-C83E-1955-2C96-A056DEFAC9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2155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083999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1600" dirty="0"/>
                        <a:t>SWAMINATHAN.S</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neokritus.cli@gmail.com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dirty="0"/>
                        <a:t>+91 9360876964</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671892" cy="461665"/>
          </a:xfrm>
          <a:prstGeom prst="rect">
            <a:avLst/>
          </a:prstGeom>
          <a:noFill/>
        </p:spPr>
        <p:txBody>
          <a:bodyPr wrap="square" rtlCol="0">
            <a:spAutoFit/>
          </a:bodyPr>
          <a:lstStyle/>
          <a:p>
            <a:r>
              <a:rPr lang="en-US" sz="2400" b="1" dirty="0"/>
              <a:t>Domain of  Project – </a:t>
            </a:r>
            <a:r>
              <a:rPr lang="en-IN" sz="1800" b="1" dirty="0">
                <a:highlight>
                  <a:srgbClr val="FFFF00"/>
                </a:highlight>
              </a:rPr>
              <a:t>Education / Career Development/Agentic AI / Artificial Intelligence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1055942" cy="461665"/>
          </a:xfrm>
          <a:prstGeom prst="rect">
            <a:avLst/>
          </a:prstGeom>
          <a:noFill/>
        </p:spPr>
        <p:txBody>
          <a:bodyPr wrap="square" rtlCol="0">
            <a:spAutoFit/>
          </a:bodyPr>
          <a:lstStyle/>
          <a:p>
            <a:r>
              <a:rPr lang="en-US" sz="2400" b="1" dirty="0"/>
              <a:t>Project Tile – </a:t>
            </a:r>
            <a:r>
              <a:rPr lang="en-IN" sz="2000" b="1" dirty="0">
                <a:highlight>
                  <a:srgbClr val="FFFF00"/>
                </a:highlight>
              </a:rPr>
              <a:t>PERITIA: AI-POWERED INTELLIGENT INTERVIEW TRAINER AGENT</a:t>
            </a:r>
            <a:endParaRPr lang="en-IN" sz="2400" b="1" dirty="0">
              <a:highlight>
                <a:srgbClr val="FFFF00"/>
              </a:highlight>
            </a:endParaRPr>
          </a:p>
        </p:txBody>
      </p:sp>
      <p:pic>
        <p:nvPicPr>
          <p:cNvPr id="5" name="Picture 4">
            <a:extLst>
              <a:ext uri="{FF2B5EF4-FFF2-40B4-BE49-F238E27FC236}">
                <a16:creationId xmlns:a16="http://schemas.microsoft.com/office/drawing/2014/main" id="{39A34EA9-CF3C-4C87-4531-C8050CDC1291}"/>
              </a:ext>
            </a:extLst>
          </p:cNvPr>
          <p:cNvPicPr>
            <a:picLocks noChangeAspect="1"/>
          </p:cNvPicPr>
          <p:nvPr/>
        </p:nvPicPr>
        <p:blipFill>
          <a:blip r:embed="rId3"/>
          <a:stretch>
            <a:fillRect/>
          </a:stretch>
        </p:blipFill>
        <p:spPr>
          <a:xfrm>
            <a:off x="4185613" y="3597053"/>
            <a:ext cx="801086" cy="102754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499CB39-2032-53EF-F2D3-588D140788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6528A9-EC3C-D7BC-71E6-509B9C6259E9}"/>
              </a:ext>
            </a:extLst>
          </p:cNvPr>
          <p:cNvSpPr txBox="1"/>
          <p:nvPr/>
        </p:nvSpPr>
        <p:spPr>
          <a:xfrm>
            <a:off x="576072" y="1092101"/>
            <a:ext cx="11311128" cy="5478423"/>
          </a:xfrm>
          <a:prstGeom prst="rect">
            <a:avLst/>
          </a:prstGeom>
          <a:noFill/>
        </p:spPr>
        <p:txBody>
          <a:bodyPr wrap="square" rtlCol="0">
            <a:spAutoFit/>
          </a:bodyPr>
          <a:lstStyle/>
          <a:p>
            <a:pPr fontAlgn="base"/>
            <a:r>
              <a:rPr lang="en-IN" b="1" dirty="0">
                <a:highlight>
                  <a:srgbClr val="FFFF00"/>
                </a:highlight>
              </a:rPr>
              <a:t>Problem Statement No.22 – Interview Trainer Agent</a:t>
            </a:r>
          </a:p>
          <a:p>
            <a:pPr fontAlgn="base"/>
            <a:endParaRPr lang="en-IN" b="1" dirty="0">
              <a:highlight>
                <a:srgbClr val="FFFF00"/>
              </a:highlight>
            </a:endParaRPr>
          </a:p>
          <a:p>
            <a:pPr fontAlgn="base"/>
            <a:r>
              <a:rPr lang="en-US" b="1" dirty="0"/>
              <a:t>PERITIA: AN AI-POWERED RAG-BASED INTELLIGENT INTERVIEW TRAINER AGENT FOR PERSONALIZED, ROLE-SPECIFIC TECHNICAL AND BEHAVIORAL INTERVIEW PREPARATION</a:t>
            </a:r>
          </a:p>
          <a:p>
            <a:pPr fontAlgn="base"/>
            <a:endParaRPr lang="en-US" b="1" dirty="0"/>
          </a:p>
          <a:p>
            <a:pPr fontAlgn="base"/>
            <a:r>
              <a:rPr lang="en-US" b="1" dirty="0"/>
              <a:t>The Challenge</a:t>
            </a:r>
          </a:p>
          <a:p>
            <a:pPr fontAlgn="base"/>
            <a:endParaRPr lang="en-US" b="1" dirty="0"/>
          </a:p>
          <a:p>
            <a:pPr fontAlgn="base"/>
            <a:r>
              <a:rPr lang="en-US" dirty="0"/>
              <a:t>Preparing for interviews is difficult because relevant technical questions, behavioral scenarios, HR guidance, and role expectations are scattered across different sources. Candidates often receive generic preparation that does not consider their target role, experience level, skills, or resume. Without personalized practice and structured feedback, it is difficult to identify strengths and improve interview performance.</a:t>
            </a:r>
          </a:p>
          <a:p>
            <a:pPr fontAlgn="base"/>
            <a:endParaRPr lang="en-US" b="1" dirty="0"/>
          </a:p>
          <a:p>
            <a:pPr fontAlgn="base"/>
            <a:r>
              <a:rPr lang="en-US" b="1" dirty="0"/>
              <a:t>The Objective</a:t>
            </a:r>
          </a:p>
          <a:p>
            <a:pPr fontAlgn="base"/>
            <a:endParaRPr lang="en-US" b="1" dirty="0"/>
          </a:p>
          <a:p>
            <a:pPr fontAlgn="base"/>
            <a:r>
              <a:rPr lang="en-US" b="1" dirty="0"/>
              <a:t>Build an AI-powered Interview Trainer Agent that delivers personalized interview preparation based on the user's profile, experience level, target role, skills, and resume. The solution should:</a:t>
            </a:r>
          </a:p>
          <a:p>
            <a:pPr fontAlgn="base"/>
            <a:endParaRPr lang="en-US" b="1" dirty="0"/>
          </a:p>
          <a:p>
            <a:pPr fontAlgn="base"/>
            <a:r>
              <a:rPr lang="en-US" b="1" dirty="0"/>
              <a:t>• Personalized Interview Preparation – </a:t>
            </a:r>
            <a:r>
              <a:rPr lang="en-US" dirty="0"/>
              <a:t>Generate role-specific technical, behavioral, and HR questions.</a:t>
            </a:r>
          </a:p>
          <a:p>
            <a:pPr fontAlgn="base"/>
            <a:endParaRPr lang="en-US" b="1" dirty="0"/>
          </a:p>
          <a:p>
            <a:pPr fontAlgn="base"/>
            <a:r>
              <a:rPr lang="en-US" b="1" dirty="0"/>
              <a:t>• RAG-Based Retrieval – </a:t>
            </a:r>
            <a:r>
              <a:rPr lang="en-US" dirty="0"/>
              <a:t>Retrieve relevant interview knowledge and role-specific guidance.</a:t>
            </a:r>
          </a:p>
          <a:p>
            <a:pPr fontAlgn="base"/>
            <a:endParaRPr lang="en-US" dirty="0"/>
          </a:p>
          <a:p>
            <a:pPr fontAlgn="base"/>
            <a:r>
              <a:rPr lang="en-US" b="1" dirty="0"/>
              <a:t>• Interactive Practice – </a:t>
            </a:r>
            <a:r>
              <a:rPr lang="en-US" dirty="0"/>
              <a:t>Conduct one-question-at-a-time interview practice.</a:t>
            </a:r>
          </a:p>
          <a:p>
            <a:pPr fontAlgn="base"/>
            <a:endParaRPr lang="en-US" b="1" dirty="0"/>
          </a:p>
          <a:p>
            <a:pPr fontAlgn="base"/>
            <a:r>
              <a:rPr lang="en-US" b="1" dirty="0"/>
              <a:t>• Answer Evaluation – </a:t>
            </a:r>
            <a:r>
              <a:rPr lang="en-US" dirty="0"/>
              <a:t>Evaluate responses and provide strengths, missing points, and improvement suggestions.</a:t>
            </a:r>
          </a:p>
          <a:p>
            <a:pPr fontAlgn="base"/>
            <a:endParaRPr lang="en-US" b="1" dirty="0"/>
          </a:p>
          <a:p>
            <a:pPr fontAlgn="base"/>
            <a:r>
              <a:rPr lang="en-US" b="1" dirty="0"/>
              <a:t>• Performance Tracking – </a:t>
            </a:r>
            <a:r>
              <a:rPr lang="en-US" dirty="0"/>
              <a:t>Track interview progress and provide an overall performance summary</a:t>
            </a:r>
            <a:r>
              <a:rPr lang="en-US" b="1" dirty="0"/>
              <a:t>.</a:t>
            </a:r>
            <a:endParaRPr lang="en-IN" dirty="0"/>
          </a:p>
        </p:txBody>
      </p:sp>
      <p:sp>
        <p:nvSpPr>
          <p:cNvPr id="3" name="TextBox 2">
            <a:extLst>
              <a:ext uri="{FF2B5EF4-FFF2-40B4-BE49-F238E27FC236}">
                <a16:creationId xmlns:a16="http://schemas.microsoft.com/office/drawing/2014/main" id="{9C3766F2-FBD6-93C6-DB7B-EF12E5428901}"/>
              </a:ext>
            </a:extLst>
          </p:cNvPr>
          <p:cNvSpPr txBox="1"/>
          <p:nvPr/>
        </p:nvSpPr>
        <p:spPr>
          <a:xfrm>
            <a:off x="576072" y="502920"/>
            <a:ext cx="7214616" cy="830997"/>
          </a:xfrm>
          <a:prstGeom prst="rect">
            <a:avLst/>
          </a:prstGeom>
          <a:noFill/>
        </p:spPr>
        <p:txBody>
          <a:bodyPr wrap="square" rtlCol="0">
            <a:spAutoFit/>
          </a:bodyPr>
          <a:lstStyle/>
          <a:p>
            <a:r>
              <a:rPr lang="en-US" sz="2400" b="1" dirty="0"/>
              <a:t>Problem Statement:</a:t>
            </a:r>
          </a:p>
          <a:p>
            <a:endParaRPr lang="en-IN" sz="2400" b="1" dirty="0"/>
          </a:p>
        </p:txBody>
      </p:sp>
    </p:spTree>
    <p:extLst>
      <p:ext uri="{BB962C8B-B14F-4D97-AF65-F5344CB8AC3E}">
        <p14:creationId xmlns:p14="http://schemas.microsoft.com/office/powerpoint/2010/main" val="3367145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08877F1-F7F2-E74C-4AD2-04CCCE4264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5EF6B2-D85F-6FA8-AB33-A1DE4FD6D9DC}"/>
              </a:ext>
            </a:extLst>
          </p:cNvPr>
          <p:cNvSpPr txBox="1"/>
          <p:nvPr/>
        </p:nvSpPr>
        <p:spPr>
          <a:xfrm>
            <a:off x="576072" y="502920"/>
            <a:ext cx="7214616" cy="830997"/>
          </a:xfrm>
          <a:prstGeom prst="rect">
            <a:avLst/>
          </a:prstGeom>
          <a:noFill/>
        </p:spPr>
        <p:txBody>
          <a:bodyPr wrap="square" rtlCol="0">
            <a:spAutoFit/>
          </a:bodyPr>
          <a:lstStyle/>
          <a:p>
            <a:r>
              <a:rPr lang="en-US" sz="2400" b="1" dirty="0"/>
              <a:t>Problem Statement:</a:t>
            </a:r>
          </a:p>
          <a:p>
            <a:endParaRPr lang="en-IN" sz="2400" b="1" dirty="0"/>
          </a:p>
        </p:txBody>
      </p:sp>
      <p:pic>
        <p:nvPicPr>
          <p:cNvPr id="5" name="Picture 4">
            <a:extLst>
              <a:ext uri="{FF2B5EF4-FFF2-40B4-BE49-F238E27FC236}">
                <a16:creationId xmlns:a16="http://schemas.microsoft.com/office/drawing/2014/main" id="{C707C206-AFC0-1242-689D-05D457E611BD}"/>
              </a:ext>
            </a:extLst>
          </p:cNvPr>
          <p:cNvPicPr>
            <a:picLocks noChangeAspect="1"/>
          </p:cNvPicPr>
          <p:nvPr/>
        </p:nvPicPr>
        <p:blipFill>
          <a:blip r:embed="rId3"/>
          <a:stretch>
            <a:fillRect/>
          </a:stretch>
        </p:blipFill>
        <p:spPr>
          <a:xfrm>
            <a:off x="1052692" y="1152143"/>
            <a:ext cx="10270627" cy="5556641"/>
          </a:xfrm>
          <a:prstGeom prst="rect">
            <a:avLst/>
          </a:prstGeom>
        </p:spPr>
      </p:pic>
    </p:spTree>
    <p:extLst>
      <p:ext uri="{BB962C8B-B14F-4D97-AF65-F5344CB8AC3E}">
        <p14:creationId xmlns:p14="http://schemas.microsoft.com/office/powerpoint/2010/main" val="191458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E18E47E-CD12-FFB4-2690-ADD4E13B92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C76E3C-6272-C654-12C7-ACE8BF4B980E}"/>
              </a:ext>
            </a:extLst>
          </p:cNvPr>
          <p:cNvSpPr txBox="1"/>
          <p:nvPr/>
        </p:nvSpPr>
        <p:spPr>
          <a:xfrm>
            <a:off x="576072" y="1234440"/>
            <a:ext cx="11347704" cy="5047536"/>
          </a:xfrm>
          <a:prstGeom prst="rect">
            <a:avLst/>
          </a:prstGeom>
          <a:noFill/>
        </p:spPr>
        <p:txBody>
          <a:bodyPr wrap="square" rtlCol="0">
            <a:spAutoFit/>
          </a:bodyPr>
          <a:lstStyle/>
          <a:p>
            <a:pPr fontAlgn="base"/>
            <a:endParaRPr lang="en-US" b="1" dirty="0"/>
          </a:p>
          <a:p>
            <a:pPr fontAlgn="base"/>
            <a:r>
              <a:rPr lang="en-US" b="1" dirty="0"/>
              <a:t>Proposed Solution: AI-Powered Interview Trainer Agent</a:t>
            </a:r>
          </a:p>
          <a:p>
            <a:pPr fontAlgn="base"/>
            <a:endParaRPr lang="en-US" b="1" dirty="0"/>
          </a:p>
          <a:p>
            <a:pPr fontAlgn="base"/>
            <a:r>
              <a:rPr lang="en-US" dirty="0"/>
              <a:t>The proposed solution is an AI-powered interview training platform built using IBM Bob, IBM watsonx.ai, RAG, and foundation models to provide personalized, role-specific interview preparation.</a:t>
            </a:r>
          </a:p>
          <a:p>
            <a:pPr fontAlgn="base"/>
            <a:endParaRPr lang="en-US" dirty="0"/>
          </a:p>
          <a:p>
            <a:pPr fontAlgn="base"/>
            <a:r>
              <a:rPr lang="en-US" dirty="0"/>
              <a:t>At its core, the solution uses a Retrieval-Augmented Generation (RAG) pipeline to retrieve relevant technical questions, behavioral scenarios, HR guidance, and role-specific interview knowledge from a curated knowledge base before generating personalized responses.</a:t>
            </a:r>
          </a:p>
          <a:p>
            <a:pPr fontAlgn="base"/>
            <a:endParaRPr lang="en-US" b="1" dirty="0"/>
          </a:p>
          <a:p>
            <a:pPr fontAlgn="base"/>
            <a:r>
              <a:rPr lang="en-US" b="1" dirty="0"/>
              <a:t>The system consists of five key components:</a:t>
            </a:r>
          </a:p>
          <a:p>
            <a:pPr fontAlgn="base"/>
            <a:endParaRPr lang="en-US" b="1" dirty="0"/>
          </a:p>
          <a:p>
            <a:pPr marL="285750" indent="-285750" fontAlgn="base">
              <a:buFont typeface="Arial" panose="020B0604020202020204" pitchFamily="34" charset="0"/>
              <a:buChar char="•"/>
            </a:pPr>
            <a:r>
              <a:rPr lang="en-US" dirty="0"/>
              <a:t>Profile Analyzer analyzes the user's profile, experience, skills, resume, and target role.</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Interview Planner creates a personalized preparation plan based on the candidate's requirements.</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Knowledge Retriever retrieves relevant interview information using RAG.</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Question Generator generates technical, behavioral, HR, and role-specific interview questions.</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Answer Evaluator analyzes user responses and provides strengths, missing points, model answers, and improvement suggestions.</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The solution includes an interactive practice interface and performance dashboard to help candidates prepare, practice, receive feedback, and track their interview progress.</a:t>
            </a:r>
            <a:endParaRPr lang="en-IN" dirty="0"/>
          </a:p>
        </p:txBody>
      </p:sp>
      <p:sp>
        <p:nvSpPr>
          <p:cNvPr id="3" name="TextBox 2">
            <a:extLst>
              <a:ext uri="{FF2B5EF4-FFF2-40B4-BE49-F238E27FC236}">
                <a16:creationId xmlns:a16="http://schemas.microsoft.com/office/drawing/2014/main" id="{B250A28A-C815-1CDF-34B1-E711AE2344A8}"/>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a:t>
            </a:r>
            <a:endParaRPr lang="en-IN" sz="2400" b="1" dirty="0"/>
          </a:p>
        </p:txBody>
      </p:sp>
    </p:spTree>
    <p:extLst>
      <p:ext uri="{BB962C8B-B14F-4D97-AF65-F5344CB8AC3E}">
        <p14:creationId xmlns:p14="http://schemas.microsoft.com/office/powerpoint/2010/main" val="4066257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F1876167-7B3F-9F91-F177-D51669465C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3509E3-CE47-9622-0D49-DB4464C39876}"/>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D02B0640-97ED-1D81-1A5D-4AABDA0881A7}"/>
              </a:ext>
            </a:extLst>
          </p:cNvPr>
          <p:cNvSpPr txBox="1"/>
          <p:nvPr/>
        </p:nvSpPr>
        <p:spPr>
          <a:xfrm>
            <a:off x="777240" y="1207008"/>
            <a:ext cx="10515600" cy="4247317"/>
          </a:xfrm>
          <a:prstGeom prst="rect">
            <a:avLst/>
          </a:prstGeom>
          <a:noFill/>
        </p:spPr>
        <p:txBody>
          <a:bodyPr wrap="square" rtlCol="0">
            <a:spAutoFit/>
          </a:bodyPr>
          <a:lstStyle/>
          <a:p>
            <a:endParaRPr lang="en-US" sz="1800" b="1" dirty="0"/>
          </a:p>
          <a:p>
            <a:r>
              <a:rPr lang="en-US" sz="1800" b="1" dirty="0"/>
              <a:t>•  IBM Bob platform – </a:t>
            </a:r>
            <a:r>
              <a:rPr lang="en-US" sz="1800" dirty="0"/>
              <a:t>For designing and orchestrating the application workflow</a:t>
            </a:r>
          </a:p>
          <a:p>
            <a:endParaRPr lang="en-US" sz="1800" b="1" dirty="0"/>
          </a:p>
          <a:p>
            <a:r>
              <a:rPr lang="en-US" sz="1800" b="1" dirty="0"/>
              <a:t>•  Foundation Model (IBM watsonx.ai) – </a:t>
            </a:r>
            <a:r>
              <a:rPr lang="en-US" sz="1800" dirty="0"/>
              <a:t>For natural language understanding, reasoning, question generation, and answer evaluation</a:t>
            </a:r>
          </a:p>
          <a:p>
            <a:endParaRPr lang="en-US" sz="1800" b="1" dirty="0"/>
          </a:p>
          <a:p>
            <a:r>
              <a:rPr lang="en-US" sz="1800" b="1" dirty="0"/>
              <a:t>•  IBM Cloud – </a:t>
            </a:r>
            <a:r>
              <a:rPr lang="en-US" sz="1800" dirty="0"/>
              <a:t>Provides the infrastructure for running and integrating the application</a:t>
            </a:r>
          </a:p>
          <a:p>
            <a:endParaRPr lang="en-US" sz="1800" b="1" dirty="0"/>
          </a:p>
          <a:p>
            <a:r>
              <a:rPr lang="en-US" sz="1800" b="1" dirty="0"/>
              <a:t>•  RAG – </a:t>
            </a:r>
            <a:r>
              <a:rPr lang="en-US" sz="1800" dirty="0"/>
              <a:t>Retrieves relevant interview knowledge before generating personalized responses</a:t>
            </a:r>
          </a:p>
          <a:p>
            <a:endParaRPr lang="en-US" sz="1800" b="1" dirty="0"/>
          </a:p>
          <a:p>
            <a:r>
              <a:rPr lang="en-US" sz="1800" b="1" dirty="0"/>
              <a:t>•  IBM watsonx.ai – </a:t>
            </a:r>
            <a:r>
              <a:rPr lang="en-US" sz="1800" dirty="0"/>
              <a:t>For foundation model inference and AI integration</a:t>
            </a:r>
          </a:p>
          <a:p>
            <a:endParaRPr lang="en-US" sz="1800" b="1" dirty="0"/>
          </a:p>
          <a:p>
            <a:r>
              <a:rPr lang="en-US" sz="1800" b="1" dirty="0"/>
              <a:t>•  Vector Database (FAISS) – </a:t>
            </a:r>
            <a:r>
              <a:rPr lang="en-US" sz="1800" dirty="0"/>
              <a:t>For lightweight RAG-based interview knowledge retrieval</a:t>
            </a:r>
          </a:p>
          <a:p>
            <a:endParaRPr lang="en-US" sz="1800" b="1" dirty="0"/>
          </a:p>
          <a:p>
            <a:r>
              <a:rPr lang="en-US" sz="1800" b="1" dirty="0"/>
              <a:t>•  React + </a:t>
            </a:r>
            <a:r>
              <a:rPr lang="en-US" sz="1800" b="1" dirty="0" err="1"/>
              <a:t>FastAPI</a:t>
            </a:r>
            <a:r>
              <a:rPr lang="en-US" sz="1800" b="1" dirty="0"/>
              <a:t> – </a:t>
            </a:r>
            <a:r>
              <a:rPr lang="en-US" sz="1800" dirty="0"/>
              <a:t>For the web interface and backend application services</a:t>
            </a:r>
            <a:endParaRPr lang="en-IN" dirty="0"/>
          </a:p>
        </p:txBody>
      </p:sp>
    </p:spTree>
    <p:extLst>
      <p:ext uri="{BB962C8B-B14F-4D97-AF65-F5344CB8AC3E}">
        <p14:creationId xmlns:p14="http://schemas.microsoft.com/office/powerpoint/2010/main" val="412410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A6519FA5-A01E-5A09-1C76-9A4152EDE2F6}"/>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50CE8904-2D9C-45E7-FE4B-77999D7BCBA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B4F9EE93-D07A-157A-7C8A-8ED20C699F8A}"/>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8BCFCCED-2598-3B73-74F8-E66EC7E1B56C}"/>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0AA4ABBA-4137-5A34-F7E3-9B5D79A2F03A}"/>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717E1EE0-F167-CD29-F4DD-1B4E19854C02}"/>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A272CBBC-DB9C-793B-98C4-44186F2B4C0E}"/>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52FB786-73A6-1A85-27F8-CE7768EF17DD}"/>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57629C5-863E-3CE0-E818-380DB000C9EF}"/>
              </a:ext>
            </a:extLst>
          </p:cNvPr>
          <p:cNvPicPr>
            <a:picLocks noChangeAspect="1"/>
          </p:cNvPicPr>
          <p:nvPr/>
        </p:nvPicPr>
        <p:blipFill>
          <a:blip r:embed="rId3"/>
          <a:stretch>
            <a:fillRect/>
          </a:stretch>
        </p:blipFill>
        <p:spPr>
          <a:xfrm>
            <a:off x="977932" y="850520"/>
            <a:ext cx="10409396" cy="5855285"/>
          </a:xfrm>
          <a:prstGeom prst="rect">
            <a:avLst/>
          </a:prstGeom>
        </p:spPr>
      </p:pic>
    </p:spTree>
    <p:extLst>
      <p:ext uri="{BB962C8B-B14F-4D97-AF65-F5344CB8AC3E}">
        <p14:creationId xmlns:p14="http://schemas.microsoft.com/office/powerpoint/2010/main" val="1302859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1BC13C9C-C81E-05F4-35B2-79195E6A8BBC}"/>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05D23021-781A-16DB-9E91-855A2E2D376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B01219A2-535C-E10F-8608-3890E9220723}"/>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35EBB881-EF66-0764-5ECC-01E15BC874C9}"/>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4ECEC0FA-A297-E544-20DC-31B455D96D82}"/>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5AFDD6BF-45E9-A211-E9F4-A918549E9046}"/>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B972B137-A6B4-6249-2851-A1BDD699909B}"/>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723B1B08-8FAE-2888-8BCC-5D581A8AB5A6}"/>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3BC8081-9ABE-0C39-6772-C006ED8AD5FF}"/>
              </a:ext>
            </a:extLst>
          </p:cNvPr>
          <p:cNvPicPr>
            <a:picLocks noChangeAspect="1"/>
          </p:cNvPicPr>
          <p:nvPr/>
        </p:nvPicPr>
        <p:blipFill>
          <a:blip r:embed="rId3"/>
          <a:stretch>
            <a:fillRect/>
          </a:stretch>
        </p:blipFill>
        <p:spPr>
          <a:xfrm>
            <a:off x="1167861" y="894699"/>
            <a:ext cx="10308336" cy="5798439"/>
          </a:xfrm>
          <a:prstGeom prst="rect">
            <a:avLst/>
          </a:prstGeom>
        </p:spPr>
      </p:pic>
    </p:spTree>
    <p:extLst>
      <p:ext uri="{BB962C8B-B14F-4D97-AF65-F5344CB8AC3E}">
        <p14:creationId xmlns:p14="http://schemas.microsoft.com/office/powerpoint/2010/main" val="286937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6B2A7DEB-9E31-6FC0-70E4-8E59412A2E13}"/>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C9A29405-5C8C-A105-F031-12A1EEBC0BD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0803827B-1B13-4E9D-1560-4B2FFBB95546}"/>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6DD08D00-8815-F2E5-9368-EE5C9DEBE83A}"/>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4EC23ACE-71B7-C776-8D6A-845167E66E2F}"/>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A00DAA40-898F-1509-831A-739C2403939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5FE51A4-37C5-E2AE-FCC0-9ED2A7FCDEFF}"/>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1CE7484D-707D-A67E-D0C3-76823E021AF5}"/>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70153B5-1363-BA6E-E933-CBA3ABAC248E}"/>
              </a:ext>
            </a:extLst>
          </p:cNvPr>
          <p:cNvPicPr>
            <a:picLocks noChangeAspect="1"/>
          </p:cNvPicPr>
          <p:nvPr/>
        </p:nvPicPr>
        <p:blipFill>
          <a:blip r:embed="rId3"/>
          <a:stretch>
            <a:fillRect/>
          </a:stretch>
        </p:blipFill>
        <p:spPr>
          <a:xfrm>
            <a:off x="1344168" y="948380"/>
            <a:ext cx="10061448" cy="5659565"/>
          </a:xfrm>
          <a:prstGeom prst="rect">
            <a:avLst/>
          </a:prstGeom>
        </p:spPr>
      </p:pic>
    </p:spTree>
    <p:extLst>
      <p:ext uri="{BB962C8B-B14F-4D97-AF65-F5344CB8AC3E}">
        <p14:creationId xmlns:p14="http://schemas.microsoft.com/office/powerpoint/2010/main" val="157509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B40FBED1-8AA6-5872-AC3E-64EEDE4F46C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A2C0A028-9A04-5458-018D-6185B971848A}"/>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D5CC0043-0ABE-2065-54ED-792B62E8ABEB}"/>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7A7F6134-58F9-00CF-393D-800BD5C98B51}"/>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B0F2A69E-DC1E-DF79-F94E-B536CAF8926D}"/>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6E40ED3-0BCA-BCB3-1325-EF38E858E2DB}"/>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6F15F272-A1B3-2B9F-166F-4A0F4F02EEC0}"/>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D95F7807-857E-2DA6-DDC3-D1919836B08A}"/>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C8F4194-0D15-7044-52AE-60EA823E860D}"/>
              </a:ext>
            </a:extLst>
          </p:cNvPr>
          <p:cNvPicPr>
            <a:picLocks noChangeAspect="1"/>
          </p:cNvPicPr>
          <p:nvPr/>
        </p:nvPicPr>
        <p:blipFill>
          <a:blip r:embed="rId3"/>
          <a:stretch>
            <a:fillRect/>
          </a:stretch>
        </p:blipFill>
        <p:spPr>
          <a:xfrm>
            <a:off x="1066801" y="929293"/>
            <a:ext cx="10409396" cy="5855285"/>
          </a:xfrm>
          <a:prstGeom prst="rect">
            <a:avLst/>
          </a:prstGeom>
        </p:spPr>
      </p:pic>
    </p:spTree>
    <p:extLst>
      <p:ext uri="{BB962C8B-B14F-4D97-AF65-F5344CB8AC3E}">
        <p14:creationId xmlns:p14="http://schemas.microsoft.com/office/powerpoint/2010/main" val="69843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A01A6370-7A3F-157E-5B57-FF53C858D4D1}"/>
              </a:ext>
            </a:extLst>
          </p:cNvPr>
          <p:cNvPicPr>
            <a:picLocks noChangeAspect="1"/>
          </p:cNvPicPr>
          <p:nvPr/>
        </p:nvPicPr>
        <p:blipFill>
          <a:blip r:embed="rId3"/>
          <a:stretch>
            <a:fillRect/>
          </a:stretch>
        </p:blipFill>
        <p:spPr>
          <a:xfrm>
            <a:off x="1691640" y="889826"/>
            <a:ext cx="8631936" cy="58214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34072" cy="5047536"/>
          </a:xfrm>
          <a:prstGeom prst="rect">
            <a:avLst/>
          </a:prstGeom>
          <a:noFill/>
        </p:spPr>
        <p:txBody>
          <a:bodyPr wrap="square" rtlCol="0">
            <a:spAutoFit/>
          </a:bodyPr>
          <a:lstStyle/>
          <a:p>
            <a:r>
              <a:rPr lang="en-US" b="1" dirty="0"/>
              <a:t>Role of Agentic AI in PERITIA</a:t>
            </a:r>
          </a:p>
          <a:p>
            <a:endParaRPr lang="en-US" dirty="0"/>
          </a:p>
          <a:p>
            <a:pPr marL="285750" indent="-285750">
              <a:buFont typeface="Arial" panose="020B0604020202020204" pitchFamily="34" charset="0"/>
              <a:buChar char="•"/>
            </a:pPr>
            <a:r>
              <a:rPr lang="en-US" dirty="0"/>
              <a:t>Agentic AI enables PERITIA to function as an intelligent interview-training system rather than a simple chatbot. Using IBM watsonx.ai, it coordinates the different stages of the interview preparation workflow to provide personalized, role-specific guidance.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performs specialized tasks such as analyzing the user's profile and resume, retrieving relevant interview knowledge, generating technical and behavioral questions, evaluating answers, and providing personalized improvement feedback. These components work together to deliver a structured interview preparation experience.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Agentic AI also provides context awareness by considering the user's target role, experience level, skills, resume, and job description when generating interview content. This enables personalized question selection and **real-time adaptation** during interview practice.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workflow supports continuous assessment by analyzing each submitted answer and identifying **strengths, missing points, and areas for improvement**. This helps users progressively improve their technical and behavioral interview performance.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Overall, Agentic AI makes PERITIA a personalized, goal-driven interview trainer that guides users from preparation through practice, evaluation, and performance improvement.</a:t>
            </a:r>
          </a:p>
        </p:txBody>
      </p:sp>
    </p:spTree>
    <p:extLst>
      <p:ext uri="{BB962C8B-B14F-4D97-AF65-F5344CB8AC3E}">
        <p14:creationId xmlns:p14="http://schemas.microsoft.com/office/powerpoint/2010/main" val="4000696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9,196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09CCD7F0-5F0A-B395-17D6-D0726B8BF513}"/>
              </a:ext>
            </a:extLst>
          </p:cNvPr>
          <p:cNvPicPr>
            <a:picLocks noChangeAspect="1"/>
          </p:cNvPicPr>
          <p:nvPr/>
        </p:nvPicPr>
        <p:blipFill>
          <a:blip r:embed="rId3"/>
          <a:stretch>
            <a:fillRect/>
          </a:stretch>
        </p:blipFill>
        <p:spPr>
          <a:xfrm>
            <a:off x="157793" y="2451181"/>
            <a:ext cx="5724526" cy="3135803"/>
          </a:xfrm>
          <a:prstGeom prst="rect">
            <a:avLst/>
          </a:prstGeom>
        </p:spPr>
      </p:pic>
      <p:pic>
        <p:nvPicPr>
          <p:cNvPr id="6" name="Picture 5">
            <a:extLst>
              <a:ext uri="{FF2B5EF4-FFF2-40B4-BE49-F238E27FC236}">
                <a16:creationId xmlns:a16="http://schemas.microsoft.com/office/drawing/2014/main" id="{869FD4FF-FCAB-35C1-74AC-708D29625C7B}"/>
              </a:ext>
            </a:extLst>
          </p:cNvPr>
          <p:cNvPicPr>
            <a:picLocks noChangeAspect="1"/>
          </p:cNvPicPr>
          <p:nvPr/>
        </p:nvPicPr>
        <p:blipFill>
          <a:blip r:embed="rId4"/>
          <a:stretch>
            <a:fillRect/>
          </a:stretch>
        </p:blipFill>
        <p:spPr>
          <a:xfrm>
            <a:off x="6096000" y="2471232"/>
            <a:ext cx="5938207" cy="310072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49F3F180-B3A2-F9DC-69B2-39E637C4F6C8}"/>
              </a:ext>
            </a:extLst>
          </p:cNvPr>
          <p:cNvPicPr>
            <a:picLocks noChangeAspect="1"/>
          </p:cNvPicPr>
          <p:nvPr/>
        </p:nvPicPr>
        <p:blipFill>
          <a:blip r:embed="rId3"/>
          <a:stretch>
            <a:fillRect/>
          </a:stretch>
        </p:blipFill>
        <p:spPr>
          <a:xfrm>
            <a:off x="1133856" y="818303"/>
            <a:ext cx="10399776" cy="584987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D703C40-D38C-ADAC-DC20-FF707BAA9DD3}"/>
              </a:ext>
            </a:extLst>
          </p:cNvPr>
          <p:cNvPicPr>
            <a:picLocks noChangeAspect="1"/>
          </p:cNvPicPr>
          <p:nvPr/>
        </p:nvPicPr>
        <p:blipFill>
          <a:blip r:embed="rId3"/>
          <a:stretch>
            <a:fillRect/>
          </a:stretch>
        </p:blipFill>
        <p:spPr>
          <a:xfrm>
            <a:off x="892050" y="776012"/>
            <a:ext cx="10550141" cy="5934455"/>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5C119DA6-8F78-3201-3262-F536CA2CE9F8}"/>
              </a:ext>
            </a:extLst>
          </p:cNvPr>
          <p:cNvPicPr>
            <a:picLocks noChangeAspect="1"/>
          </p:cNvPicPr>
          <p:nvPr/>
        </p:nvPicPr>
        <p:blipFill>
          <a:blip r:embed="rId3"/>
          <a:stretch>
            <a:fillRect/>
          </a:stretch>
        </p:blipFill>
        <p:spPr>
          <a:xfrm>
            <a:off x="1051560" y="905742"/>
            <a:ext cx="10088880" cy="567499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DD76CD6-24A0-BC62-74FA-8E5D3E108FE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4C11D17-7B41-E92D-D3F1-1797F256418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56D3E97-92B6-2C1E-61FC-2E08994C55F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8480D35-5BDB-2E02-39AB-F0AC9E2B570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FCBC5E-3548-87D2-A176-F1C6E3E01CA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B1BAAA79-8041-400C-41D3-D7779F0E2B6E}"/>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52EFFF4E-B006-C9B8-55BA-F002201B225D}"/>
              </a:ext>
            </a:extLst>
          </p:cNvPr>
          <p:cNvPicPr>
            <a:picLocks noChangeAspect="1"/>
          </p:cNvPicPr>
          <p:nvPr/>
        </p:nvPicPr>
        <p:blipFill>
          <a:blip r:embed="rId3"/>
          <a:stretch>
            <a:fillRect/>
          </a:stretch>
        </p:blipFill>
        <p:spPr>
          <a:xfrm>
            <a:off x="1131284" y="1044263"/>
            <a:ext cx="9841992" cy="5536121"/>
          </a:xfrm>
          <a:prstGeom prst="rect">
            <a:avLst/>
          </a:prstGeom>
        </p:spPr>
      </p:pic>
    </p:spTree>
    <p:extLst>
      <p:ext uri="{BB962C8B-B14F-4D97-AF65-F5344CB8AC3E}">
        <p14:creationId xmlns:p14="http://schemas.microsoft.com/office/powerpoint/2010/main" val="1676494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87D77E89-5A41-BD5B-57FE-1B96B918C68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F442720-AEED-F806-5445-B35E61F20F1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B8983BB3-32F0-6837-A31D-AEB41CE9E20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78AA46D-8B5B-756F-67B6-1501ED6E61C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47E7F97F-2E17-C05A-0FF2-5943D4A4AA6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52735155-3B7F-ACD3-CD6E-146DC26E9D3C}"/>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70D5CC10-D661-60FF-A6F7-10C88C055CE2}"/>
              </a:ext>
            </a:extLst>
          </p:cNvPr>
          <p:cNvPicPr>
            <a:picLocks noChangeAspect="1"/>
          </p:cNvPicPr>
          <p:nvPr/>
        </p:nvPicPr>
        <p:blipFill>
          <a:blip r:embed="rId3"/>
          <a:stretch>
            <a:fillRect/>
          </a:stretch>
        </p:blipFill>
        <p:spPr>
          <a:xfrm>
            <a:off x="859536" y="761724"/>
            <a:ext cx="10600944" cy="5963031"/>
          </a:xfrm>
          <a:prstGeom prst="rect">
            <a:avLst/>
          </a:prstGeom>
        </p:spPr>
      </p:pic>
    </p:spTree>
    <p:extLst>
      <p:ext uri="{BB962C8B-B14F-4D97-AF65-F5344CB8AC3E}">
        <p14:creationId xmlns:p14="http://schemas.microsoft.com/office/powerpoint/2010/main" val="3675135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1AD28C5-53B1-4EB1-B88E-EA78808F56E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D223FF9-3555-A4E6-70F4-BEF6C823F62D}"/>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2398B8C1-15D1-EA63-E0C1-7621C90B79C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F9A9BF0-A4F5-5439-55B5-A7CB81096CA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C728FFD-8D86-C35A-4EAD-DDF73669711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300318E-C14E-837F-EA67-46CE83005EA6}"/>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402B1769-58E2-E0D5-9B50-00D67744F7F7}"/>
              </a:ext>
            </a:extLst>
          </p:cNvPr>
          <p:cNvPicPr>
            <a:picLocks noChangeAspect="1"/>
          </p:cNvPicPr>
          <p:nvPr/>
        </p:nvPicPr>
        <p:blipFill>
          <a:blip r:embed="rId3"/>
          <a:stretch>
            <a:fillRect/>
          </a:stretch>
        </p:blipFill>
        <p:spPr>
          <a:xfrm>
            <a:off x="1033272" y="816977"/>
            <a:ext cx="10399776" cy="5849874"/>
          </a:xfrm>
          <a:prstGeom prst="rect">
            <a:avLst/>
          </a:prstGeom>
        </p:spPr>
      </p:pic>
    </p:spTree>
    <p:extLst>
      <p:ext uri="{BB962C8B-B14F-4D97-AF65-F5344CB8AC3E}">
        <p14:creationId xmlns:p14="http://schemas.microsoft.com/office/powerpoint/2010/main" val="2737259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5F4784F-34C7-9841-D64A-104AC81F727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03B3E19-79A4-9B36-5C37-213281F7A39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999159E-47C5-0790-8146-B1A04E4CA3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36864549-3F6F-34DE-CA4E-638D1AEF3A4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96D7B1C-DB8E-E940-ADCF-7616125E264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F7C395D-7B7E-9891-4A7F-08E29D0F5FD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59469421-6277-BE55-65AF-132C6D212BBC}"/>
              </a:ext>
            </a:extLst>
          </p:cNvPr>
          <p:cNvPicPr>
            <a:picLocks noChangeAspect="1"/>
          </p:cNvPicPr>
          <p:nvPr/>
        </p:nvPicPr>
        <p:blipFill>
          <a:blip r:embed="rId3"/>
          <a:stretch>
            <a:fillRect/>
          </a:stretch>
        </p:blipFill>
        <p:spPr>
          <a:xfrm>
            <a:off x="1005840" y="782298"/>
            <a:ext cx="10527792" cy="5921883"/>
          </a:xfrm>
          <a:prstGeom prst="rect">
            <a:avLst/>
          </a:prstGeom>
        </p:spPr>
      </p:pic>
    </p:spTree>
    <p:extLst>
      <p:ext uri="{BB962C8B-B14F-4D97-AF65-F5344CB8AC3E}">
        <p14:creationId xmlns:p14="http://schemas.microsoft.com/office/powerpoint/2010/main" val="49515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9106EF6-E9EC-B5A5-E9B7-3FA72D9AD23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8CA4F444-04DD-71BA-CD43-1D10A514658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BB9ADCFC-8BC4-EF98-1935-F2AC6DF7061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973F9F6-E76D-84CA-4733-1C318DBB9F2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8184B25-56C8-A0BC-C5E8-FB1B507B121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665E9FE-542E-6B6C-88AC-091FE55EFCEC}"/>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C8BB738-B36F-BC4A-6A77-EE7A8B3FA21A}"/>
              </a:ext>
            </a:extLst>
          </p:cNvPr>
          <p:cNvPicPr>
            <a:picLocks noChangeAspect="1"/>
          </p:cNvPicPr>
          <p:nvPr/>
        </p:nvPicPr>
        <p:blipFill>
          <a:blip r:embed="rId3"/>
          <a:stretch>
            <a:fillRect/>
          </a:stretch>
        </p:blipFill>
        <p:spPr>
          <a:xfrm>
            <a:off x="1090472" y="736007"/>
            <a:ext cx="10692384" cy="6014466"/>
          </a:xfrm>
          <a:prstGeom prst="rect">
            <a:avLst/>
          </a:prstGeom>
        </p:spPr>
      </p:pic>
    </p:spTree>
    <p:extLst>
      <p:ext uri="{BB962C8B-B14F-4D97-AF65-F5344CB8AC3E}">
        <p14:creationId xmlns:p14="http://schemas.microsoft.com/office/powerpoint/2010/main" val="314329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67EF3A6-DF2C-5D4D-49AC-2871621461B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F50D6F8-7A86-694C-C712-EBE006156F59}"/>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6D054BD1-CEF7-FD21-ADA4-1E0C10C7F3F2}"/>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05C9071F-1D1C-97B3-B7CC-5935EF76964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EA44699-613D-12D1-0030-7F2160739A3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1183616-EAB9-BDE7-74DA-ACBC8014748E}"/>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2D8C57F-65C0-8F0A-A510-888E6C86A9FB}"/>
              </a:ext>
            </a:extLst>
          </p:cNvPr>
          <p:cNvPicPr>
            <a:picLocks noChangeAspect="1"/>
          </p:cNvPicPr>
          <p:nvPr/>
        </p:nvPicPr>
        <p:blipFill>
          <a:blip r:embed="rId3"/>
          <a:stretch>
            <a:fillRect/>
          </a:stretch>
        </p:blipFill>
        <p:spPr>
          <a:xfrm>
            <a:off x="1005840" y="771722"/>
            <a:ext cx="10619232" cy="5973318"/>
          </a:xfrm>
          <a:prstGeom prst="rect">
            <a:avLst/>
          </a:prstGeom>
        </p:spPr>
      </p:pic>
    </p:spTree>
    <p:extLst>
      <p:ext uri="{BB962C8B-B14F-4D97-AF65-F5344CB8AC3E}">
        <p14:creationId xmlns:p14="http://schemas.microsoft.com/office/powerpoint/2010/main" val="802228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94360" y="34747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946297"/>
            <a:ext cx="11414760" cy="5632311"/>
          </a:xfrm>
          <a:prstGeom prst="rect">
            <a:avLst/>
          </a:prstGeom>
          <a:noFill/>
        </p:spPr>
        <p:txBody>
          <a:bodyPr wrap="square" rtlCol="0">
            <a:spAutoFit/>
          </a:bodyPr>
          <a:lstStyle/>
          <a:p>
            <a:pPr marL="285750" indent="-285750">
              <a:buFont typeface="Arial" panose="020B0604020202020204" pitchFamily="34" charset="0"/>
              <a:buChar char="•"/>
            </a:pPr>
            <a:r>
              <a:rPr lang="en-US" sz="1500" dirty="0"/>
              <a:t>PERITIA combines Agentic AI, RAG, and personalization into a single intelligent interview-training system.</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Role-Specific Intelligence – Generates interview preparation based on the user's target role, experience level, skills, resume, and job description.</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RAG-Based Preparation – Retrieves relevant interview knowledge before generating questions and feedback, improving contextual relevance.</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Personalized Interview Practice – Adapts technical, behavioral, and HR questions according to the user's profile and selected role.</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Answer Evaluation Loop – Evaluates each response and identifies strengths, missing points, weaknesses, and areas for improvement.</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Resume-Aware Training – Uses information from the user's resume to create more relevant and personalized interview questions.</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Unified Interview Workflow – Integrates preparation, practice, evaluation, and progress tracking into one platform.</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IBM watsonx.ai Integration – Uses an IBM watsonx.ai foundation model (</a:t>
            </a:r>
            <a:r>
              <a:rPr lang="en-US" sz="1500" dirty="0" err="1"/>
              <a:t>LLaMA</a:t>
            </a:r>
            <a:r>
              <a:rPr lang="en-US" sz="1500" dirty="0"/>
              <a:t> / Granite) for question generation and answer evaluation.</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This makes PERITIA a structured, adaptive, and personalized interview-training platform rather than a basic question-and-answer chatbot.</a:t>
            </a:r>
            <a:endParaRPr lang="en-IN" sz="1500" dirty="0"/>
          </a:p>
        </p:txBody>
      </p:sp>
    </p:spTree>
    <p:extLst>
      <p:ext uri="{BB962C8B-B14F-4D97-AF65-F5344CB8AC3E}">
        <p14:creationId xmlns:p14="http://schemas.microsoft.com/office/powerpoint/2010/main" val="232528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36A5BA3-4366-57B2-CCDD-429EFC7EA03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3BA36F76-B6AF-82B4-A758-7F2290DD4D75}"/>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486473D0-84D9-B987-AA0C-FE78E662979D}"/>
              </a:ext>
            </a:extLst>
          </p:cNvPr>
          <p:cNvSpPr/>
          <p:nvPr/>
        </p:nvSpPr>
        <p:spPr>
          <a:xfrm>
            <a:off x="1218724" y="1153712"/>
            <a:ext cx="9644348" cy="4277001"/>
          </a:xfrm>
          <a:prstGeom prst="rect">
            <a:avLst/>
          </a:prstGeom>
          <a:noFill/>
          <a:ln>
            <a:noFill/>
          </a:ln>
        </p:spPr>
        <p:txBody>
          <a:bodyPr spcFirstLastPara="1" wrap="square" lIns="0" tIns="0" rIns="0" bIns="0" anchor="t" anchorCtr="0">
            <a:noAutofit/>
          </a:bodyPr>
          <a:lstStyle/>
          <a:p>
            <a:pPr lvl="0">
              <a:buClr>
                <a:srgbClr val="2B3541"/>
              </a:buClr>
              <a:buSzPts val="1850"/>
            </a:pPr>
            <a:endParaRPr lang="en-US" sz="1850" dirty="0">
              <a:solidFill>
                <a:srgbClr val="2B3541"/>
              </a:solidFill>
              <a:latin typeface="Times New Roman"/>
              <a:ea typeface="Times New Roman"/>
              <a:cs typeface="Times New Roman"/>
              <a:sym typeface="Times New Roman"/>
            </a:endParaRPr>
          </a:p>
          <a:p>
            <a:pPr lvl="0">
              <a:buClr>
                <a:srgbClr val="2B3541"/>
              </a:buClr>
              <a:buSzPts val="1850"/>
            </a:pPr>
            <a:r>
              <a:rPr lang="en-US" sz="1850" dirty="0">
                <a:solidFill>
                  <a:srgbClr val="2B3541"/>
                </a:solidFill>
                <a:latin typeface="Times New Roman"/>
                <a:ea typeface="Times New Roman"/>
                <a:cs typeface="Times New Roman"/>
                <a:sym typeface="Times New Roman"/>
              </a:rPr>
              <a:t>• Public GitHub Repository – PERITIA</a:t>
            </a:r>
          </a:p>
          <a:p>
            <a:pPr lvl="0">
              <a:buClr>
                <a:srgbClr val="2B3541"/>
              </a:buClr>
              <a:buSzPts val="1850"/>
            </a:pPr>
            <a:endParaRPr lang="en-US" sz="1850" dirty="0">
              <a:solidFill>
                <a:srgbClr val="2B3541"/>
              </a:solidFill>
              <a:latin typeface="Times New Roman"/>
              <a:ea typeface="Times New Roman"/>
              <a:cs typeface="Times New Roman"/>
              <a:sym typeface="Times New Roman"/>
            </a:endParaRPr>
          </a:p>
          <a:p>
            <a:pPr lvl="0">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GitHub URL – </a:t>
            </a:r>
            <a:r>
              <a:rPr lang="en-US" sz="1850" b="1" dirty="0">
                <a:solidFill>
                  <a:srgbClr val="2B3541"/>
                </a:solidFill>
                <a:highlight>
                  <a:srgbClr val="FFFF00"/>
                </a:highlight>
                <a:latin typeface="Times New Roman"/>
                <a:ea typeface="Times New Roman"/>
                <a:cs typeface="Times New Roman"/>
                <a:sym typeface="Times New Roman"/>
              </a:rPr>
              <a:t>https://github.com/NeoKritus/PERITIA</a:t>
            </a:r>
          </a:p>
          <a:p>
            <a:pPr lvl="0">
              <a:buClr>
                <a:srgbClr val="2B3541"/>
              </a:buClr>
              <a:buSzPts val="1850"/>
            </a:pPr>
            <a:endParaRPr lang="en-US" sz="1850" dirty="0">
              <a:solidFill>
                <a:srgbClr val="2B3541"/>
              </a:solidFill>
              <a:latin typeface="Times New Roman"/>
              <a:ea typeface="Times New Roman"/>
              <a:cs typeface="Times New Roman"/>
              <a:sym typeface="Times New Roman"/>
            </a:endParaRPr>
          </a:p>
          <a:p>
            <a:pPr lvl="0">
              <a:buClr>
                <a:srgbClr val="2B3541"/>
              </a:buClr>
              <a:buSzPts val="1850"/>
            </a:pPr>
            <a:r>
              <a:rPr lang="en-US" sz="1850" dirty="0">
                <a:solidFill>
                  <a:srgbClr val="2B3541"/>
                </a:solidFill>
                <a:latin typeface="Times New Roman"/>
                <a:ea typeface="Times New Roman"/>
                <a:cs typeface="Times New Roman"/>
                <a:sym typeface="Times New Roman"/>
              </a:rPr>
              <a:t>Project Repository Contents:</a:t>
            </a:r>
          </a:p>
          <a:p>
            <a:pPr lvl="0">
              <a:buClr>
                <a:srgbClr val="2B3541"/>
              </a:buClr>
              <a:buSzPts val="1850"/>
            </a:pPr>
            <a:endParaRPr lang="en-US" sz="1850" dirty="0">
              <a:solidFill>
                <a:srgbClr val="2B3541"/>
              </a:solidFill>
              <a:latin typeface="Times New Roman"/>
              <a:ea typeface="Times New Roman"/>
              <a:cs typeface="Times New Roman"/>
              <a:sym typeface="Times New Roman"/>
            </a:endParaRPr>
          </a:p>
          <a:p>
            <a:pPr lvl="0">
              <a:buClr>
                <a:srgbClr val="2B3541"/>
              </a:buClr>
              <a:buSzPts val="1850"/>
            </a:pPr>
            <a:r>
              <a:rPr lang="en-US" sz="1850" dirty="0">
                <a:solidFill>
                  <a:srgbClr val="2B3541"/>
                </a:solidFill>
                <a:latin typeface="Times New Roman"/>
                <a:ea typeface="Times New Roman"/>
                <a:cs typeface="Times New Roman"/>
                <a:sym typeface="Times New Roman"/>
              </a:rPr>
              <a:t>1) PERITIA Source Code</a:t>
            </a:r>
          </a:p>
          <a:p>
            <a:pPr lvl="0">
              <a:buClr>
                <a:srgbClr val="2B3541"/>
              </a:buClr>
              <a:buSzPts val="1850"/>
            </a:pPr>
            <a:r>
              <a:rPr lang="en-US" sz="1850" dirty="0">
                <a:solidFill>
                  <a:srgbClr val="2B3541"/>
                </a:solidFill>
                <a:latin typeface="Times New Roman"/>
                <a:ea typeface="Times New Roman"/>
                <a:cs typeface="Times New Roman"/>
                <a:sym typeface="Times New Roman"/>
              </a:rPr>
              <a:t>2) README.md</a:t>
            </a:r>
          </a:p>
          <a:p>
            <a:pPr lvl="0">
              <a:buClr>
                <a:srgbClr val="2B3541"/>
              </a:buClr>
              <a:buSzPts val="1850"/>
            </a:pPr>
            <a:r>
              <a:rPr lang="en-US" sz="1850" dirty="0">
                <a:solidFill>
                  <a:srgbClr val="2B3541"/>
                </a:solidFill>
                <a:latin typeface="Times New Roman"/>
                <a:ea typeface="Times New Roman"/>
                <a:cs typeface="Times New Roman"/>
                <a:sym typeface="Times New Roman"/>
              </a:rPr>
              <a:t>3) Problem Statement</a:t>
            </a:r>
          </a:p>
          <a:p>
            <a:pPr lvl="0">
              <a:buClr>
                <a:srgbClr val="2B3541"/>
              </a:buClr>
              <a:buSzPts val="1850"/>
            </a:pPr>
            <a:r>
              <a:rPr lang="en-US" sz="1850" dirty="0">
                <a:solidFill>
                  <a:srgbClr val="2B3541"/>
                </a:solidFill>
                <a:latin typeface="Times New Roman"/>
                <a:ea typeface="Times New Roman"/>
                <a:cs typeface="Times New Roman"/>
                <a:sym typeface="Times New Roman"/>
              </a:rPr>
              <a:t>4) System Architecture</a:t>
            </a:r>
          </a:p>
          <a:p>
            <a:pPr lvl="0">
              <a:buClr>
                <a:srgbClr val="2B3541"/>
              </a:buClr>
              <a:buSzPts val="1850"/>
            </a:pPr>
            <a:r>
              <a:rPr lang="en-US" sz="1850" dirty="0">
                <a:solidFill>
                  <a:srgbClr val="2B3541"/>
                </a:solidFill>
                <a:latin typeface="Times New Roman"/>
                <a:ea typeface="Times New Roman"/>
                <a:cs typeface="Times New Roman"/>
                <a:sym typeface="Times New Roman"/>
              </a:rPr>
              <a:t>5) RAG Knowledge Base</a:t>
            </a:r>
          </a:p>
          <a:p>
            <a:pPr lvl="0">
              <a:buClr>
                <a:srgbClr val="2B3541"/>
              </a:buClr>
              <a:buSzPts val="1850"/>
            </a:pPr>
            <a:r>
              <a:rPr lang="en-US" sz="1850" dirty="0">
                <a:solidFill>
                  <a:srgbClr val="2B3541"/>
                </a:solidFill>
                <a:latin typeface="Times New Roman"/>
                <a:ea typeface="Times New Roman"/>
                <a:cs typeface="Times New Roman"/>
                <a:sym typeface="Times New Roman"/>
              </a:rPr>
              <a:t>6) IBM Bob / Agent Files</a:t>
            </a:r>
          </a:p>
          <a:p>
            <a:pPr lvl="0">
              <a:buClr>
                <a:srgbClr val="2B3541"/>
              </a:buClr>
              <a:buSzPts val="1850"/>
            </a:pPr>
            <a:r>
              <a:rPr lang="en-US" sz="1850" dirty="0">
                <a:solidFill>
                  <a:srgbClr val="2B3541"/>
                </a:solidFill>
                <a:latin typeface="Times New Roman"/>
                <a:ea typeface="Times New Roman"/>
                <a:cs typeface="Times New Roman"/>
                <a:sym typeface="Times New Roman"/>
              </a:rPr>
              <a:t>7) Project Presentation</a:t>
            </a:r>
          </a:p>
          <a:p>
            <a:pPr lvl="0">
              <a:buClr>
                <a:srgbClr val="2B3541"/>
              </a:buClr>
              <a:buSzPts val="1850"/>
            </a:pPr>
            <a:r>
              <a:rPr lang="en-US" sz="1850" dirty="0">
                <a:solidFill>
                  <a:srgbClr val="2B3541"/>
                </a:solidFill>
                <a:latin typeface="Times New Roman"/>
                <a:ea typeface="Times New Roman"/>
                <a:cs typeface="Times New Roman"/>
                <a:sym typeface="Times New Roman"/>
              </a:rPr>
              <a:t>8) Configuration and Supporting Files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10A9DB70-0A2C-875D-E4FE-3B343AD36B8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D30CE32-B703-07D1-DD53-9D54E88B5A7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1B1C47C-89EF-7ACF-6295-98C856FDCE2E}"/>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12834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89562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b="1" dirty="0">
                <a:latin typeface="+mj-lt"/>
                <a:ea typeface="Times New Roman"/>
                <a:cs typeface="Times New Roman"/>
                <a:sym typeface="Times New Roman"/>
              </a:rPr>
              <a:t>1. Advanced Resume &amp; Job Description Analysis –</a:t>
            </a:r>
          </a:p>
          <a:p>
            <a:pPr lvl="0">
              <a:lnSpc>
                <a:spcPct val="162162"/>
              </a:lnSpc>
              <a:buClr>
                <a:srgbClr val="2B3541"/>
              </a:buClr>
              <a:buSzPts val="1850"/>
            </a:pPr>
            <a:r>
              <a:rPr lang="en-US" sz="1800" dirty="0">
                <a:latin typeface="+mj-lt"/>
                <a:ea typeface="Times New Roman"/>
                <a:cs typeface="Times New Roman"/>
                <a:sym typeface="Times New Roman"/>
              </a:rPr>
              <a:t>	The system can be enhanced to perform deeper analysis of resumes and job descriptions, identifying skill gaps and matching candidate profiles with role-specific interview requirements. This will enable more targeted preparation and personalized question generation.</a:t>
            </a:r>
          </a:p>
          <a:p>
            <a:pPr lvl="0">
              <a:lnSpc>
                <a:spcPct val="162162"/>
              </a:lnSpc>
              <a:buClr>
                <a:srgbClr val="2B3541"/>
              </a:buClr>
              <a:buSzPts val="1850"/>
            </a:pPr>
            <a:endParaRPr lang="en-US" sz="1800" dirty="0">
              <a:latin typeface="+mj-lt"/>
              <a:ea typeface="Times New Roman"/>
              <a:cs typeface="Times New Roman"/>
              <a:sym typeface="Times New Roman"/>
            </a:endParaRPr>
          </a:p>
          <a:p>
            <a:pPr lvl="0">
              <a:lnSpc>
                <a:spcPct val="162162"/>
              </a:lnSpc>
              <a:buClr>
                <a:srgbClr val="2B3541"/>
              </a:buClr>
              <a:buSzPts val="1850"/>
            </a:pPr>
            <a:r>
              <a:rPr lang="en-US" sz="1800" b="1" dirty="0">
                <a:latin typeface="+mj-lt"/>
                <a:ea typeface="Times New Roman"/>
                <a:cs typeface="Times New Roman"/>
                <a:sym typeface="Times New Roman"/>
              </a:rPr>
              <a:t>2. Multilingual &amp; Voice-Based Interview Practice –</a:t>
            </a:r>
          </a:p>
          <a:p>
            <a:pPr lvl="0">
              <a:lnSpc>
                <a:spcPct val="162162"/>
              </a:lnSpc>
              <a:buClr>
                <a:srgbClr val="2B3541"/>
              </a:buClr>
              <a:buSzPts val="1850"/>
            </a:pPr>
            <a:r>
              <a:rPr lang="en-US" sz="1800" b="1" dirty="0">
                <a:latin typeface="+mj-lt"/>
                <a:ea typeface="Times New Roman"/>
                <a:cs typeface="Times New Roman"/>
                <a:sym typeface="Times New Roman"/>
              </a:rPr>
              <a:t>	</a:t>
            </a:r>
            <a:r>
              <a:rPr lang="en-US" sz="1800" dirty="0">
                <a:ea typeface="Times New Roman"/>
                <a:cs typeface="Times New Roman"/>
                <a:sym typeface="Times New Roman"/>
              </a:rPr>
              <a:t> Future versions can support multiple languages and voice-based interaction, allowing users to practice spoken interview responses naturally. This can improve accessibility and help users strengthen both technical communication and behavioral responses.</a:t>
            </a:r>
            <a:endParaRPr lang="en-US" sz="1800" b="0"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3"/>
            <a:ext cx="7468553" cy="2041807"/>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a:t>
            </a:r>
          </a:p>
        </p:txBody>
      </p:sp>
      <p:pic>
        <p:nvPicPr>
          <p:cNvPr id="4" name="Picture 3">
            <a:extLst>
              <a:ext uri="{FF2B5EF4-FFF2-40B4-BE49-F238E27FC236}">
                <a16:creationId xmlns:a16="http://schemas.microsoft.com/office/drawing/2014/main" id="{5B11CBB5-3807-B1A1-1C57-2F5BC3B60897}"/>
              </a:ext>
            </a:extLst>
          </p:cNvPr>
          <p:cNvPicPr>
            <a:picLocks noChangeAspect="1"/>
          </p:cNvPicPr>
          <p:nvPr/>
        </p:nvPicPr>
        <p:blipFill>
          <a:blip r:embed="rId2"/>
          <a:stretch>
            <a:fillRect/>
          </a:stretch>
        </p:blipFill>
        <p:spPr>
          <a:xfrm>
            <a:off x="2843784" y="1274636"/>
            <a:ext cx="7709548" cy="558336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50A9-5013-FE1F-6E22-3DF37CACDC8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CAB93D-E0FA-965E-E205-A46A46EB1765}"/>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F95E683-6233-2BD3-21CF-ACBEBEBE92BA}"/>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Cybersecurity</a:t>
            </a:r>
          </a:p>
        </p:txBody>
      </p:sp>
      <p:pic>
        <p:nvPicPr>
          <p:cNvPr id="5" name="Picture 4">
            <a:extLst>
              <a:ext uri="{FF2B5EF4-FFF2-40B4-BE49-F238E27FC236}">
                <a16:creationId xmlns:a16="http://schemas.microsoft.com/office/drawing/2014/main" id="{8E87720D-276F-C90F-426D-7ADD8E0AF8D0}"/>
              </a:ext>
            </a:extLst>
          </p:cNvPr>
          <p:cNvPicPr>
            <a:picLocks noChangeAspect="1"/>
          </p:cNvPicPr>
          <p:nvPr/>
        </p:nvPicPr>
        <p:blipFill>
          <a:blip r:embed="rId2"/>
          <a:stretch>
            <a:fillRect/>
          </a:stretch>
        </p:blipFill>
        <p:spPr>
          <a:xfrm>
            <a:off x="2907792" y="1224302"/>
            <a:ext cx="7649112" cy="5633698"/>
          </a:xfrm>
          <a:prstGeom prst="rect">
            <a:avLst/>
          </a:prstGeom>
        </p:spPr>
      </p:pic>
    </p:spTree>
    <p:extLst>
      <p:ext uri="{BB962C8B-B14F-4D97-AF65-F5344CB8AC3E}">
        <p14:creationId xmlns:p14="http://schemas.microsoft.com/office/powerpoint/2010/main" val="877868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9C4B7-AB9A-9462-BA80-14B4978AC2E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BD996B9-DA55-86D4-64AE-159AB1C19FCC}"/>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5EF9F63-811F-24AE-0CBE-C64DD0386722}"/>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Journey to Cloud: Envisioning Your Solution</a:t>
            </a:r>
          </a:p>
        </p:txBody>
      </p:sp>
      <p:pic>
        <p:nvPicPr>
          <p:cNvPr id="4" name="Picture 3">
            <a:extLst>
              <a:ext uri="{FF2B5EF4-FFF2-40B4-BE49-F238E27FC236}">
                <a16:creationId xmlns:a16="http://schemas.microsoft.com/office/drawing/2014/main" id="{1BAD477B-F593-85D2-DB07-A9E7D72CF0D7}"/>
              </a:ext>
            </a:extLst>
          </p:cNvPr>
          <p:cNvPicPr>
            <a:picLocks noChangeAspect="1"/>
          </p:cNvPicPr>
          <p:nvPr/>
        </p:nvPicPr>
        <p:blipFill>
          <a:blip r:embed="rId2"/>
          <a:stretch>
            <a:fillRect/>
          </a:stretch>
        </p:blipFill>
        <p:spPr>
          <a:xfrm>
            <a:off x="2880361" y="1280626"/>
            <a:ext cx="7647550" cy="5577374"/>
          </a:xfrm>
          <a:prstGeom prst="rect">
            <a:avLst/>
          </a:prstGeom>
        </p:spPr>
      </p:pic>
    </p:spTree>
    <p:extLst>
      <p:ext uri="{BB962C8B-B14F-4D97-AF65-F5344CB8AC3E}">
        <p14:creationId xmlns:p14="http://schemas.microsoft.com/office/powerpoint/2010/main" val="3762435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a:t>
            </a:r>
          </a:p>
        </p:txBody>
      </p:sp>
      <p:pic>
        <p:nvPicPr>
          <p:cNvPr id="8" name="Picture 7">
            <a:extLst>
              <a:ext uri="{FF2B5EF4-FFF2-40B4-BE49-F238E27FC236}">
                <a16:creationId xmlns:a16="http://schemas.microsoft.com/office/drawing/2014/main" id="{02DA09C8-CF1E-D103-FB97-9D6B33CED7D7}"/>
              </a:ext>
            </a:extLst>
          </p:cNvPr>
          <p:cNvPicPr>
            <a:picLocks noChangeAspect="1"/>
          </p:cNvPicPr>
          <p:nvPr/>
        </p:nvPicPr>
        <p:blipFill>
          <a:blip r:embed="rId2"/>
          <a:stretch>
            <a:fillRect/>
          </a:stretch>
        </p:blipFill>
        <p:spPr>
          <a:xfrm>
            <a:off x="2231135" y="1379865"/>
            <a:ext cx="8266177" cy="547813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1430</Words>
  <Application>Microsoft Office PowerPoint</Application>
  <PresentationFormat>Widescreen</PresentationFormat>
  <Paragraphs>203</Paragraphs>
  <Slides>30</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Swaminathan S</cp:lastModifiedBy>
  <cp:revision>9</cp:revision>
  <dcterms:created xsi:type="dcterms:W3CDTF">2025-07-08T05:06:56Z</dcterms:created>
  <dcterms:modified xsi:type="dcterms:W3CDTF">2026-09-11T19:01:12Z</dcterms:modified>
</cp:coreProperties>
</file>